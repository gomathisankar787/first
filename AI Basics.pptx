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90" autoAdjust="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10/29/2026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10/29/2026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10/29/2026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10/29/2026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10/29/2026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10/29/2026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10/29/2026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10/29/2026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10/29/2026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10/29/2026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10/29/2026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10/29/2026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10/29/2026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10/29/2026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10/29/2026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10/29/2026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10/29/2026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10/29/2026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11E2A-A6DD-24D1-D2FC-7F23125E33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 Basics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D889DA-B877-58C7-C18A-D3E75F82EA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7409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98725-FD94-A943-86E0-AE77ED45F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Artificial Intelligence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67E3B-832B-CAD8-E05F-A9408F45C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N" b="1" dirty="0"/>
              <a:t>Artificial Intelligence (AI)</a:t>
            </a:r>
            <a:r>
              <a:rPr lang="en-IN" dirty="0"/>
              <a:t> is the simulation of human intelligence processes by computer systems and machines. These systems learn from data, recognize patterns, reason, and make decisions to solve complex problems.</a:t>
            </a:r>
          </a:p>
          <a:p>
            <a:pPr marL="0" indent="0" algn="just">
              <a:buNone/>
            </a:pPr>
            <a:r>
              <a:rPr lang="en-IN" b="1" dirty="0"/>
              <a:t>Definition:</a:t>
            </a:r>
            <a:r>
              <a:rPr lang="en-IN" dirty="0"/>
              <a:t> AI is an umbrella term for technology that allows machines to perform tasks typically requiring human cognitive functions—such as speech recognition, visual interpretation, and problem-solving.</a:t>
            </a:r>
          </a:p>
        </p:txBody>
      </p:sp>
    </p:spTree>
    <p:extLst>
      <p:ext uri="{BB962C8B-B14F-4D97-AF65-F5344CB8AC3E}">
        <p14:creationId xmlns:p14="http://schemas.microsoft.com/office/powerpoint/2010/main" val="85184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F695E4-2601-56AB-1027-1EB1FC2FF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Subsets of AI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75527C7-770D-0CBE-B079-6348300070C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just">
              <a:buNone/>
            </a:pPr>
            <a:endParaRPr lang="en-IN" dirty="0"/>
          </a:p>
          <a:p>
            <a:pPr marL="0" indent="0" algn="just">
              <a:buNone/>
            </a:pPr>
            <a:r>
              <a:rPr lang="en-IN" dirty="0"/>
              <a:t>Artificial Intelligence (AI), Machine Learning (ML), and Deep Learning (DL) form a nested hierarchy where each concept is a specialized subset of the one before it: AI is the largest umbrella, ML is a subset of AI, and Deep Learning is a subset of ML.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AF2CD89-24B6-0A8C-E2F9-899AFBAB66A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08713" y="2703513"/>
            <a:ext cx="4824412" cy="321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188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8A894-73BC-D5C4-00D7-564336B97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EC3A8-CB8B-427B-E622-EBE6F447942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Machine Learning</a:t>
            </a:r>
            <a:r>
              <a:rPr lang="en-US" dirty="0"/>
              <a:t> is a discipline in computer science where we train machines on data so that they can make predictions without explicit programming.</a:t>
            </a: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396BD0B-2BBC-6BD1-EE13-52CC99EDFAE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08713" y="2859495"/>
            <a:ext cx="5249654" cy="3160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977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6E1E8-3949-5560-D7FF-F6723C404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Major Categories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3F871-AC38-4DBE-529A-A693BF1A2E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1" dirty="0"/>
              <a:t>Classification:</a:t>
            </a:r>
          </a:p>
          <a:p>
            <a:pPr marL="0" indent="0" algn="just">
              <a:buNone/>
            </a:pPr>
            <a:r>
              <a:rPr lang="en-IN" dirty="0"/>
              <a:t>Classification assigns input data into distinct, predefined classes or labels.</a:t>
            </a:r>
          </a:p>
          <a:p>
            <a:pPr marL="0" indent="0" algn="just">
              <a:buNone/>
            </a:pPr>
            <a:r>
              <a:rPr lang="en-IN" b="1" dirty="0"/>
              <a:t>Regression:</a:t>
            </a:r>
          </a:p>
          <a:p>
            <a:pPr marL="0" indent="0" algn="just">
              <a:buNone/>
            </a:pPr>
            <a:r>
              <a:rPr lang="en-IN" dirty="0"/>
              <a:t>Regression models the relationship between independent variables and a continuous numerical target to estimate quantities.</a:t>
            </a:r>
            <a:endParaRPr lang="en-IN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F8F39BC-97FC-2464-05C3-4244B9FBCA8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08713" y="2469824"/>
            <a:ext cx="5472644" cy="3549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804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7D20E-46DE-D1EF-79D5-5BD4C2C39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World Examples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54CC77E-8352-1539-C4D8-7EED1E61E65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712747387"/>
              </p:ext>
            </p:extLst>
          </p:nvPr>
        </p:nvGraphicFramePr>
        <p:xfrm>
          <a:off x="1154954" y="2603500"/>
          <a:ext cx="9882092" cy="31502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41046">
                  <a:extLst>
                    <a:ext uri="{9D8B030D-6E8A-4147-A177-3AD203B41FA5}">
                      <a16:colId xmlns:a16="http://schemas.microsoft.com/office/drawing/2014/main" val="429303734"/>
                    </a:ext>
                  </a:extLst>
                </a:gridCol>
                <a:gridCol w="4941046">
                  <a:extLst>
                    <a:ext uri="{9D8B030D-6E8A-4147-A177-3AD203B41FA5}">
                      <a16:colId xmlns:a16="http://schemas.microsoft.com/office/drawing/2014/main" val="3029566235"/>
                    </a:ext>
                  </a:extLst>
                </a:gridCol>
              </a:tblGrid>
              <a:tr h="722869">
                <a:tc>
                  <a:txBody>
                    <a:bodyPr/>
                    <a:lstStyle/>
                    <a:p>
                      <a:r>
                        <a:rPr lang="en-US" dirty="0"/>
                        <a:t>Classification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Regression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9476264"/>
                  </a:ext>
                </a:extLst>
              </a:tr>
              <a:tr h="981680">
                <a:tc>
                  <a:txBody>
                    <a:bodyPr/>
                    <a:lstStyle/>
                    <a:p>
                      <a:r>
                        <a:rPr lang="en-US" dirty="0"/>
                        <a:t>Email SPAM Classification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Property Price Prediction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257356"/>
                  </a:ext>
                </a:extLst>
              </a:tr>
              <a:tr h="722869">
                <a:tc>
                  <a:txBody>
                    <a:bodyPr/>
                    <a:lstStyle/>
                    <a:p>
                      <a:r>
                        <a:rPr lang="en-US" dirty="0"/>
                        <a:t>Fraud Detection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Salary Prediction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7685480"/>
                  </a:ext>
                </a:extLst>
              </a:tr>
              <a:tr h="722869">
                <a:tc>
                  <a:txBody>
                    <a:bodyPr/>
                    <a:lstStyle/>
                    <a:p>
                      <a:r>
                        <a:rPr lang="en-US" dirty="0"/>
                        <a:t>Image Classification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Stock Price Forecasting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08441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7483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F159-AF1A-75AC-F987-DFE036292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and Unsupervised Learning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F69D0-A881-1522-950E-EE437D33919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 algn="just">
              <a:buNone/>
            </a:pPr>
            <a:r>
              <a:rPr lang="en-IN" dirty="0"/>
              <a:t>Supervised learning acts like a student learning with a teacher guiding them through a </a:t>
            </a:r>
            <a:r>
              <a:rPr lang="en-IN" dirty="0" err="1"/>
              <a:t>labeled</a:t>
            </a:r>
            <a:r>
              <a:rPr lang="en-IN" dirty="0"/>
              <a:t> answer key, while unsupervised learning acts like an explorer finding hidden structures in data completely on its own.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99B26F6-DAF0-00AB-0C85-B020B403D5A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12633" y="2850667"/>
            <a:ext cx="5174945" cy="3254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029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9FD3005-CB27-A993-6290-775BB73529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8924" y="2441543"/>
            <a:ext cx="9964132" cy="425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295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063B11A-E915-69F4-8FE5-0FCCF86B1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72A97EA-EBA5-CF86-1F22-EA31139C43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7460" y="2403835"/>
            <a:ext cx="9634194" cy="4242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189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D2726-74D9-7073-68DE-7281AAFE2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Learning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A6541-5B17-BCF8-4AE1-14BA452B2AE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 algn="just">
              <a:buNone/>
            </a:pPr>
            <a:r>
              <a:rPr lang="en-US" b="1" dirty="0"/>
              <a:t>Deep Learning</a:t>
            </a:r>
            <a:r>
              <a:rPr lang="en-US" dirty="0"/>
              <a:t> is a machine learning technique that uses neural networks to learn from large amounts of data, mimicking the human brain’s ability to recognize patterns and make decisions.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0FF4743-7A28-DA9B-CF7C-D699D363BD6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08713" y="2603501"/>
            <a:ext cx="5131732" cy="3203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231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D6C59-C806-6AD0-3C6A-75E0BAF1E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1B250-0326-BADE-6222-6CD72132768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 algn="just">
              <a:buNone/>
            </a:pPr>
            <a:r>
              <a:rPr lang="en-IN" dirty="0"/>
              <a:t>A </a:t>
            </a:r>
            <a:r>
              <a:rPr lang="en-IN" b="1" dirty="0"/>
              <a:t>neural network</a:t>
            </a:r>
            <a:r>
              <a:rPr lang="en-IN" dirty="0"/>
              <a:t> is a machine learning model inspired by the human brain, while deep learning is a subset of machine learning that uses multi-layered neural networks (typically with multiple hidden layers) to automatically learn complex features from data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50DD39B-0DEC-0DE2-48EC-D1B98985C80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08713" y="2743200"/>
            <a:ext cx="5480524" cy="3416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346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500AA8F-E2C5-3227-3253-9CC5462469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7203" y="2584645"/>
            <a:ext cx="10012387" cy="3740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109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F59818-6D2A-192A-FF99-57C4E4D6B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				 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15058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{DE98468B-3E6A-4D08-976A-8FD93C8CBBFD}TF229edf6a-8a49-49ee-a0a6-5037052947485fb3ca0c-bc27bf41d645</Template>
  <TotalTime>103</TotalTime>
  <Words>339</Words>
  <Application>Microsoft Office PowerPoint</Application>
  <PresentationFormat>Widescreen</PresentationFormat>
  <Paragraphs>37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Wingdings 3</vt:lpstr>
      <vt:lpstr>Ion Boardroom</vt:lpstr>
      <vt:lpstr>AI Basics</vt:lpstr>
      <vt:lpstr>What is Artificial Intelligence</vt:lpstr>
      <vt:lpstr>Subsets of AI</vt:lpstr>
      <vt:lpstr>Machine Learning</vt:lpstr>
      <vt:lpstr>Major Categories</vt:lpstr>
      <vt:lpstr>Real World Examples</vt:lpstr>
      <vt:lpstr>Supervised and Unsupervised Learning</vt:lpstr>
      <vt:lpstr>PowerPoint Presentation</vt:lpstr>
      <vt:lpstr>PowerPoint Presentation</vt:lpstr>
      <vt:lpstr>Deep Learning</vt:lpstr>
      <vt:lpstr>Neural Network</vt:lpstr>
      <vt:lpstr>PowerPoint Presentation</vt:lpstr>
      <vt:lpstr>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Balaji M R</dc:creator>
  <cp:lastModifiedBy>Balaji M R</cp:lastModifiedBy>
  <cp:revision>1</cp:revision>
  <dcterms:created xsi:type="dcterms:W3CDTF">2026-10-29T15:44:21Z</dcterms:created>
  <dcterms:modified xsi:type="dcterms:W3CDTF">2026-10-29T17:28:15Z</dcterms:modified>
</cp:coreProperties>
</file>